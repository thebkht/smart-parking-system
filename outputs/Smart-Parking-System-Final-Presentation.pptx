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10362895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400" b="1" i="0">
                <a:solidFill>
                  <a:srgbClr val="000000"/>
                </a:solidFill>
                <a:latin typeface="Times New Roman"/>
              </a:rPr>
              <a:t>Smart Parking System — Final Technical Report</a:t>
            </a:r>
          </a:p>
          <a:p>
            <a:pPr algn="ctr">
              <a:spcBef>
                <a:spcPts val="1000"/>
              </a:spcBef>
            </a:pPr>
            <a:r>
              <a:rPr sz="1900" b="0" i="0">
                <a:solidFill>
                  <a:srgbClr val="111111"/>
                </a:solidFill>
                <a:latin typeface="Times New Roman"/>
              </a:rPr>
              <a:t>Edge Occupancy Detection with Quadrilateral Pooling,</a:t>
            </a:r>
          </a:p>
          <a:p>
            <a:pPr algn="ctr"/>
            <a:r>
              <a:rPr sz="1900" b="0" i="0">
                <a:solidFill>
                  <a:srgbClr val="111111"/>
                </a:solidFill>
                <a:latin typeface="Times New Roman"/>
              </a:rPr>
              <a:t>YOLOv8-cls, and a Find My Car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270248" y="3977639"/>
            <a:ext cx="3657600" cy="1645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62895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0" i="0">
                <a:solidFill>
                  <a:srgbClr val="111111"/>
                </a:solidFill>
                <a:latin typeface="Times New Roman"/>
              </a:rPr>
              <a:t>Bakhtiyor Ganijon  ·  Sadriddinov Otabek  ·  Sattor Mamatov  ·  Mirzayev Komronkhon</a:t>
            </a:r>
          </a:p>
          <a:p>
            <a:pPr algn="ctr">
              <a:spcBef>
                <a:spcPts val="600"/>
              </a:spcBef>
            </a:pPr>
            <a:r>
              <a:rPr sz="1300" b="0" i="1">
                <a:solidFill>
                  <a:srgbClr val="555555"/>
                </a:solidFill>
                <a:latin typeface="Times New Roman"/>
              </a:rPr>
              <a:t>Final submission — follow-up to the progress review</a:t>
            </a:r>
          </a:p>
          <a:p>
            <a:pPr algn="ctr">
              <a:spcBef>
                <a:spcPts val="1400"/>
              </a:spcBef>
            </a:pPr>
            <a:r>
              <a:rPr sz="1300" b="0" i="0">
                <a:solidFill>
                  <a:srgbClr val="1A4E8A"/>
                </a:solidFill>
                <a:latin typeface="Courier New"/>
              </a:rPr>
              <a:t>github.com/thebkht/smart-parking-system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Times New Roman"/>
              </a:rPr>
              <a:t>2. 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637215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37215" cy="4389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Detect, per parking space, whether it is occupied or free —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from a single overhead camera, without per-space in-ground sensors.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Keep imagery on the device.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Streaming video to the cloud carries bandwidth and privacy cost; only compact occupancy JSON should leave the edge.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Generalize to unseen lots.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Performance must hold on cameras and layouts never seen in training, not just on memorized scenes.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Close the product loop.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Configuration (owner setup), live maps, and a photo-based Find My Car must all run off one consistent layout.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55664"/>
            <a:ext cx="1063721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Times New Roman"/>
              </a:rPr>
              <a:t>Smart Parking System — Final Technical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82935" y="6455664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Times New Roman"/>
              </a:rPr>
              <a:t>3.  Since the progress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637215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37215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400" b="0" i="1">
                <a:solidFill>
                  <a:srgbClr val="555555"/>
                </a:solidFill>
                <a:latin typeface="Times New Roman"/>
              </a:rPr>
              <a:t>The model and benchmarks were presented earlier. This talk covers the integration work that completed the product, and the report's synthesis.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10637215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2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Owner setup now runs Structure-from-Motion server-side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with a manual fallback (§4).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Owner label correction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— rename spots after layout generation (§4).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Find My Car reference-photo management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— per-spot references in the backend (§5).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Optional authentication and session ownership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(§6).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A representative integration bug, and the report's Discussion + Conclusion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(§7–§9).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55664"/>
            <a:ext cx="1063721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Times New Roman"/>
              </a:rPr>
              <a:t>Smart Parking System — Final Technical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455664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Times New Roman"/>
              </a:rPr>
              <a:t>4.  Owner setup — server-side SfM and correction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637215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5852160" cy="4389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Upload and reconstruct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POST /layout runs the SfM pass in-process to build a bird's-eye map and extract quadrilateral spot polygons, then persists the layout.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Graceful fallback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If SfM cannot build a usable layout it returns 422; the app falls back to manual polygon submission via POST /map.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Inline label correction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PATCH /spots/{id} lets the owner rename each spot after generation; the new label is reflected on the map and reused by Find My Car.</a:t>
            </a:r>
          </a:p>
        </p:txBody>
      </p:sp>
      <p:pic>
        <p:nvPicPr>
          <p:cNvPr id="5" name="Picture 4" descr="ui_owner_setup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310766"/>
            <a:ext cx="4572000" cy="2510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720" y="5696712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Times New Roman"/>
              </a:rPr>
              <a:t>Figure 1. Owner setup: generated layout ready to publish.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63721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Times New Roman"/>
              </a:rPr>
              <a:t>Smart Parking System — Final Technical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455664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Times New Roman"/>
              </a:rPr>
              <a:t>5.  Find My Car — reference-photo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637215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603504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Per-spot references in the backend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POST /spots/{id}/references stores photos under a managed directory and records them; GET lists them.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Localization uses the managed set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POST /park matches the driver photo against the managed references, falling back to the bundled sample set only when empty.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Unchanged localizer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SIFT + FLANN + RANSAC, training-free and CPU-only.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60350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300" b="1" i="0">
                <a:solidFill>
                  <a:srgbClr val="111111"/>
                </a:solidFill>
                <a:latin typeface="Times New Roman"/>
              </a:rPr>
              <a:t>Localizer accuracy (labelled night-overhead set):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111111"/>
                </a:solidFill>
                <a:latin typeface="Times New Roman"/>
              </a:rPr>
              <a:t>21/21 top-1  ·  21/21 top-3  ·  536 ms average  ·  no training</a:t>
            </a:r>
          </a:p>
        </p:txBody>
      </p:sp>
      <p:pic>
        <p:nvPicPr>
          <p:cNvPr id="6" name="Picture 5" descr="ui_find_my_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051" y="1417320"/>
            <a:ext cx="2109978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6016752"/>
            <a:ext cx="3931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Times New Roman"/>
              </a:rPr>
              <a:t>Figure 2. Find My Car: matched spot highlighted in amber.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55664"/>
            <a:ext cx="1063721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Times New Roman"/>
              </a:rPr>
              <a:t>Smart Parking System — Final Technical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455664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Times New Roman"/>
              </a:rPr>
              <a:t>6.  Authentication and session ownership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637215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5943600" cy="4023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Opt-in by design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Off by default so the demo runs token-free; AUTH_ENABLED turns it on.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Owner-mutating routes are protected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POST /map, POST /layout, PATCH /spots/{id}, and reference upload require a bearer token from POST /auth/register.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Sessions are owned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POST /park stamps the owner; GET /find/{id} returns 404 for sessions owned by another user. Read-only /status and /map stay public.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0" y="1554480"/>
            <a:ext cx="46634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31152" y="1664207"/>
            <a:ext cx="4334255" cy="279806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00" b="0" i="1">
                <a:solidFill>
                  <a:srgbClr val="555555"/>
                </a:solidFill>
                <a:latin typeface="Times New Roman"/>
              </a:rPr>
              <a:t>Lightweight token flow</a:t>
            </a:r>
          </a:p>
          <a:p>
            <a:r>
              <a:rPr sz="1150" b="0" i="0">
                <a:solidFill>
                  <a:srgbClr val="000000"/>
                </a:solidFill>
                <a:latin typeface="Courier New"/>
              </a:rPr>
              <a:t>POST /auth/register</a:t>
            </a:r>
          </a:p>
          <a:p>
            <a:r>
              <a:rPr sz="1150" b="0" i="0">
                <a:solidFill>
                  <a:srgbClr val="000000"/>
                </a:solidFill>
                <a:latin typeface="Courier New"/>
              </a:rPr>
              <a:t>  {"username": "owner"}</a:t>
            </a:r>
          </a:p>
          <a:p>
            <a:r>
              <a:rPr sz="1150" b="0" i="0">
                <a:solidFill>
                  <a:srgbClr val="000000"/>
                </a:solidFill>
                <a:latin typeface="Courier New"/>
              </a:rPr>
              <a:t>  -&gt; {"token": "..."}</a:t>
            </a:r>
          </a:p>
          <a:p>
            <a:r>
              <a:rPr sz="1150" b="0" i="0">
                <a:solidFill>
                  <a:srgbClr val="000000"/>
                </a:solidFill>
                <a:latin typeface="Courier New"/>
              </a:rPr>
              <a:t/>
            </a:r>
          </a:p>
          <a:p>
            <a:r>
              <a:rPr sz="1150" b="0" i="0">
                <a:solidFill>
                  <a:srgbClr val="000000"/>
                </a:solidFill>
                <a:latin typeface="Courier New"/>
              </a:rPr>
              <a:t>Authorization: Bearer &lt;token&gt;</a:t>
            </a:r>
          </a:p>
          <a:p>
            <a:r>
              <a:rPr sz="1150" b="0" i="0">
                <a:solidFill>
                  <a:srgbClr val="000000"/>
                </a:solidFill>
                <a:latin typeface="Courier New"/>
              </a:rPr>
              <a:t>  on POST /map, PATCH /spots/{id},</a:t>
            </a:r>
          </a:p>
          <a:p>
            <a:r>
              <a:rPr sz="1150" b="0" i="0">
                <a:solidFill>
                  <a:srgbClr val="000000"/>
                </a:solidFill>
                <a:latin typeface="Courier New"/>
              </a:rPr>
              <a:t>     POST /spots/{id}/references</a:t>
            </a:r>
          </a:p>
          <a:p>
            <a:r>
              <a:rPr sz="1150" b="0" i="0">
                <a:solidFill>
                  <a:srgbClr val="000000"/>
                </a:solidFill>
                <a:latin typeface="Courier New"/>
              </a:rPr>
              <a:t/>
            </a:r>
          </a:p>
          <a:p>
            <a:r>
              <a:rPr sz="1150" b="0" i="0">
                <a:solidFill>
                  <a:srgbClr val="000000"/>
                </a:solidFill>
                <a:latin typeface="Courier New"/>
              </a:rPr>
              <a:t>AUTH_ENABLED=1  (backend env)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63721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Times New Roman"/>
              </a:rPr>
              <a:t>Smart Parking System — Final Technical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455664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Times New Roman"/>
              </a:rPr>
              <a:t>7.  Case study — the live-occupancy counter bug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637215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37215" cy="4206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Symptom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The web dashboard showed 55 free and 127 occupied against a 12-spot layout.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Root cause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The counters aggregated every entry in the raw /status payload — including stale spot IDs from earlier edge runs — while the map rendered only the published layout's spots.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Fix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Constrain the counters to the layout's spot IDs, restoring the invariant free + occupied ≤ total and matching the (already-correct) mobile client.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Hardening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Recommend the backend filter /status responses to the published layout so all clients are consistent by construction.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55664"/>
            <a:ext cx="1063721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Times New Roman"/>
              </a:rPr>
              <a:t>Smart Parking System — Final Technical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82935" y="6455664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Times New Roman"/>
              </a:rPr>
              <a:t>8. 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637215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3474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700" b="1" i="1">
                <a:solidFill>
                  <a:srgbClr val="000000"/>
                </a:solidFill>
                <a:latin typeface="Times New Roman"/>
              </a:rPr>
              <a:t>What worked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3291840" cy="1280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352044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YOLOv8n beats the s/m variants on test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Quad warp beats square crop by +1.34 pp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Matches ResNet50 at ~9× fewer 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1554480"/>
            <a:ext cx="3474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700" b="1" i="1">
                <a:solidFill>
                  <a:srgbClr val="000000"/>
                </a:solidFill>
                <a:latin typeface="Times New Roman"/>
              </a:rPr>
              <a:t>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2011680"/>
            <a:ext cx="3291840" cy="1280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194560"/>
            <a:ext cx="352044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Patch quality is the ceiling (FN 26/605)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Low-light recall drops to 93.5%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Localization set is night-only, n =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554480"/>
            <a:ext cx="3474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700" b="1" i="1">
                <a:solidFill>
                  <a:srgbClr val="000000"/>
                </a:solidFill>
                <a:latin typeface="Times New Roman"/>
              </a:rPr>
              <a:t>Production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2011680"/>
            <a:ext cx="3291840" cy="1280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194560"/>
            <a:ext cx="352044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858 FPS — ~300× reporting headroom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99.9% bandwidth saving; 30-min stable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SIFT-only Find My Car is the final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55664"/>
            <a:ext cx="1063721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Times New Roman"/>
              </a:rPr>
              <a:t>Smart Parking System — Final Technical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82935" y="6455664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Times New Roman"/>
              </a:rPr>
              <a:t>9.  Conclusion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637215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37215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Delivered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An edge system that lifts a 90.9% fixed-ROI baseline to 97.72% on the unseen-lot test split via quadrilateral pooling.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A complete product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Owner setup with server-side SfM, web + mobile live maps, and photo-based Find My Car — validated by an in-process smoke test and client contract tests.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Future work</a:t>
            </a:r>
            <a:r>
              <a:rPr sz="1350" b="0" i="0">
                <a:solidFill>
                  <a:srgbClr val="111111"/>
                </a:solidFill>
                <a:latin typeface="Times New Roman"/>
              </a:rPr>
              <a:t>  Low-light augmentation, higher-fidelity SfM reconstruction, and a longer soak test with backend-side status filtering.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983480"/>
            <a:ext cx="10637215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166360"/>
            <a:ext cx="10637215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800" b="1" i="0">
                <a:solidFill>
                  <a:srgbClr val="000000"/>
                </a:solidFill>
                <a:latin typeface="Times New Roman"/>
              </a:rPr>
              <a:t>Thank you.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11111"/>
                </a:solidFill>
                <a:latin typeface="Times New Roman"/>
              </a:rPr>
              <a:t>Code: </a:t>
            </a:r>
            <a:r>
              <a:rPr sz="1400" b="0" i="0">
                <a:solidFill>
                  <a:srgbClr val="1A4E8A"/>
                </a:solidFill>
                <a:latin typeface="Courier New"/>
              </a:rPr>
              <a:t>github.com/thebkht/smart-parking-system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63721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Times New Roman"/>
              </a:rPr>
              <a:t>Smart Parking System — Final Technical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455664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